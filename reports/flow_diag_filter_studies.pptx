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9906000" type="A4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42D8D-9F13-4912-B3F5-16FD57D3D27C}" v="1" dt="2025-05-10T12:41:52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3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8760" cy="344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42720" y="2317680"/>
            <a:ext cx="6171840" cy="574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077083A-1DB0-481C-A686-F47F514448B6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8760" cy="344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2271600" y="9181440"/>
            <a:ext cx="2313720" cy="52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4843440" y="9181440"/>
            <a:ext cx="1542240" cy="52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C43C9C1-EEC2-48AC-872E-95033609653F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71600" y="9181440"/>
            <a:ext cx="1542240" cy="52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42720" y="2317680"/>
            <a:ext cx="6171840" cy="574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4"/>
          <p:cNvSpPr/>
          <p:nvPr/>
        </p:nvSpPr>
        <p:spPr>
          <a:xfrm>
            <a:off x="299520" y="5230440"/>
            <a:ext cx="29008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Arial"/>
              </a:rPr>
              <a:t>Main figure 1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C98B59F-299E-961B-50E1-CD3335CF53B2}"/>
              </a:ext>
            </a:extLst>
          </p:cNvPr>
          <p:cNvGrpSpPr/>
          <p:nvPr/>
        </p:nvGrpSpPr>
        <p:grpSpPr>
          <a:xfrm>
            <a:off x="457200" y="303120"/>
            <a:ext cx="5943600" cy="8523960"/>
            <a:chOff x="457200" y="303120"/>
            <a:chExt cx="5943600" cy="8523960"/>
          </a:xfrm>
        </p:grpSpPr>
        <p:sp>
          <p:nvSpPr>
            <p:cNvPr id="50" name="Rectangle: Rounded Corners 9"/>
            <p:cNvSpPr/>
            <p:nvPr/>
          </p:nvSpPr>
          <p:spPr>
            <a:xfrm>
              <a:off x="887040" y="303120"/>
              <a:ext cx="4552200" cy="590040"/>
            </a:xfrm>
            <a:prstGeom prst="roundRect">
              <a:avLst>
                <a:gd name="adj" fmla="val 16667"/>
              </a:avLst>
            </a:prstGeom>
            <a:noFill/>
            <a:ln w="158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000" b="1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51" name="TextBox 10"/>
            <p:cNvSpPr/>
            <p:nvPr/>
          </p:nvSpPr>
          <p:spPr>
            <a:xfrm>
              <a:off x="2001960" y="335160"/>
              <a:ext cx="25700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1000" b="1" strike="noStrike" spc="-1">
                  <a:solidFill>
                    <a:schemeClr val="dk1"/>
                  </a:solidFill>
                  <a:latin typeface="Arial"/>
                  <a:ea typeface="ADLaM Display"/>
                </a:rPr>
                <a:t>Records identified from Serotracker</a:t>
              </a:r>
              <a:endParaRPr lang="en-US" sz="1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Rectangle: Rounded Corners 15"/>
            <p:cNvSpPr/>
            <p:nvPr/>
          </p:nvSpPr>
          <p:spPr>
            <a:xfrm>
              <a:off x="2237760" y="1088280"/>
              <a:ext cx="3206160" cy="1460540"/>
            </a:xfrm>
            <a:prstGeom prst="roundRect">
              <a:avLst>
                <a:gd name="adj" fmla="val 16667"/>
              </a:avLst>
            </a:prstGeom>
            <a:noFill/>
            <a:ln w="158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000" b="1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53" name="TextBox 16"/>
            <p:cNvSpPr/>
            <p:nvPr/>
          </p:nvSpPr>
          <p:spPr>
            <a:xfrm>
              <a:off x="3110400" y="1414800"/>
              <a:ext cx="14601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1000" b="1" strike="noStrike" spc="-1">
                  <a:solidFill>
                    <a:schemeClr val="dk1"/>
                  </a:solidFill>
                  <a:latin typeface="Arial"/>
                  <a:ea typeface="ADLaM Display"/>
                </a:rPr>
                <a:t>Records excluded</a:t>
              </a:r>
              <a:endParaRPr lang="en-US" sz="1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TextBox 17"/>
            <p:cNvSpPr/>
            <p:nvPr/>
          </p:nvSpPr>
          <p:spPr>
            <a:xfrm>
              <a:off x="2248200" y="1585800"/>
              <a:ext cx="3203640" cy="86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spc="-1" dirty="0">
                  <a:solidFill>
                    <a:schemeClr val="dk1"/>
                  </a:solidFill>
                  <a:latin typeface="Arial"/>
                  <a:ea typeface="ADLaM Display"/>
                </a:rPr>
                <a:t>1 868	Non-household or non-community samples</a:t>
              </a:r>
              <a:r>
                <a:rPr lang="en-US" sz="1000" b="0" strike="noStrike" spc="-1" dirty="0">
                  <a:solidFill>
                    <a:schemeClr val="dk1"/>
                  </a:solidFill>
                  <a:latin typeface="Arial"/>
                  <a:ea typeface="ADLaM Display"/>
                </a:rPr>
                <a:t> 156</a:t>
              </a:r>
              <a:r>
                <a:rPr lang="en-US" sz="1000" spc="-1" dirty="0">
                  <a:solidFill>
                    <a:schemeClr val="dk1"/>
                  </a:solidFill>
                  <a:latin typeface="Arial"/>
                  <a:ea typeface="ADLaM Display"/>
                </a:rPr>
                <a:t>	Sample size less than 500</a:t>
              </a:r>
              <a:r>
                <a:rPr lang="en-US" sz="1000" b="0" strike="noStrike" spc="-1" dirty="0">
                  <a:solidFill>
                    <a:schemeClr val="dk1"/>
                  </a:solidFill>
                  <a:latin typeface="Arial"/>
                  <a:ea typeface="ADLaM Display"/>
                </a:rPr>
                <a:t>   </a:t>
              </a:r>
            </a:p>
            <a:p>
              <a:pPr defTabSz="457200"/>
              <a:r>
                <a:rPr lang="en-US" sz="1000" spc="-1" dirty="0">
                  <a:solidFill>
                    <a:schemeClr val="dk1"/>
                  </a:solidFill>
                  <a:latin typeface="Arial"/>
                  <a:ea typeface="ADLaM Display"/>
                </a:rPr>
                <a:t>283	Past cut-off date</a:t>
              </a:r>
              <a:endParaRPr lang="en-US" sz="1000" spc="-1" dirty="0">
                <a:solidFill>
                  <a:srgbClr val="000000"/>
                </a:solidFill>
                <a:latin typeface="Arial"/>
              </a:endParaRPr>
            </a:p>
            <a:p>
              <a:pPr defTabSz="457200">
                <a:lnSpc>
                  <a:spcPct val="100000"/>
                </a:lnSpc>
              </a:pPr>
              <a:r>
                <a:rPr lang="en-US" sz="1000" b="0" strike="noStrike" spc="-1" dirty="0">
                  <a:solidFill>
                    <a:schemeClr val="dk1"/>
                  </a:solidFill>
                  <a:latin typeface="Arial"/>
                  <a:ea typeface="ADLaM Display"/>
                </a:rPr>
                <a:t>3	Restricted to specific sex</a:t>
              </a:r>
            </a:p>
            <a:p>
              <a:pPr defTabSz="457200">
                <a:lnSpc>
                  <a:spcPct val="100000"/>
                </a:lnSpc>
              </a:pPr>
              <a:r>
                <a:rPr lang="en-US" sz="1000" b="0" strike="noStrike" spc="-1" dirty="0">
                  <a:solidFill>
                    <a:schemeClr val="dk1"/>
                  </a:solidFill>
                  <a:latin typeface="Arial"/>
                  <a:ea typeface="ADLaM Display"/>
                </a:rPr>
                <a:t>16	Age of the entire sample &lt; 18 yr or &gt; 65 yr</a:t>
              </a:r>
              <a:endParaRPr lang="en-US" sz="1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5" name="Group 18"/>
            <p:cNvGrpSpPr/>
            <p:nvPr/>
          </p:nvGrpSpPr>
          <p:grpSpPr>
            <a:xfrm>
              <a:off x="1331280" y="1612440"/>
              <a:ext cx="906480" cy="72000"/>
              <a:chOff x="1331280" y="1612440"/>
              <a:chExt cx="906480" cy="72000"/>
            </a:xfrm>
          </p:grpSpPr>
          <p:sp>
            <p:nvSpPr>
              <p:cNvPr id="56" name="Freeform: Shape 42"/>
              <p:cNvSpPr/>
              <p:nvPr/>
            </p:nvSpPr>
            <p:spPr>
              <a:xfrm>
                <a:off x="1331280" y="1612440"/>
                <a:ext cx="412200" cy="70920"/>
              </a:xfrm>
              <a:custGeom>
                <a:avLst/>
                <a:gdLst>
                  <a:gd name="textAreaLeft" fmla="*/ 0 w 412200"/>
                  <a:gd name="textAreaRight" fmla="*/ 412920 w 412200"/>
                  <a:gd name="textAreaTop" fmla="*/ 0 h 70920"/>
                  <a:gd name="textAreaBottom" fmla="*/ 71640 h 70920"/>
                </a:gdLst>
                <a:ahLst/>
                <a:cxnLst/>
                <a:rect l="textAreaLeft" t="textAreaTop" r="textAreaRight" b="textAreaBottom"/>
                <a:pathLst>
                  <a:path w="143394" h="69869">
                    <a:moveTo>
                      <a:pt x="519" y="0"/>
                    </a:moveTo>
                    <a:cubicBezTo>
                      <a:pt x="-671" y="25202"/>
                      <a:pt x="-1861" y="50404"/>
                      <a:pt x="21951" y="61913"/>
                    </a:cubicBezTo>
                    <a:cubicBezTo>
                      <a:pt x="45763" y="73422"/>
                      <a:pt x="143394" y="69057"/>
                      <a:pt x="143394" y="69057"/>
                    </a:cubicBezTo>
                    <a:lnTo>
                      <a:pt x="143394" y="69057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/>
            </p:style>
            <p:txBody>
              <a:bodyPr lIns="90000" tIns="26640" rIns="90000" bIns="2664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endParaRPr lang="en-US" sz="1000" b="1" strike="noStrike" spc="-1">
                  <a:solidFill>
                    <a:schemeClr val="dk1"/>
                  </a:solidFill>
                  <a:latin typeface="Arial"/>
                </a:endParaRPr>
              </a:p>
            </p:txBody>
          </p:sp>
          <p:cxnSp>
            <p:nvCxnSpPr>
              <p:cNvPr id="57" name="Straight Arrow Connector 43"/>
              <p:cNvCxnSpPr/>
              <p:nvPr/>
            </p:nvCxnSpPr>
            <p:spPr>
              <a:xfrm>
                <a:off x="1741680" y="1683360"/>
                <a:ext cx="496440" cy="1440"/>
              </a:xfrm>
              <a:prstGeom prst="straightConnector1">
                <a:avLst/>
              </a:prstGeom>
              <a:ln w="15875">
                <a:solidFill>
                  <a:srgbClr val="000000"/>
                </a:solidFill>
                <a:round/>
                <a:tailEnd type="triangle" w="med" len="med"/>
              </a:ln>
            </p:spPr>
          </p:cxnSp>
        </p:grpSp>
        <p:cxnSp>
          <p:nvCxnSpPr>
            <p:cNvPr id="58" name="Straight Arrow Connector 19"/>
            <p:cNvCxnSpPr/>
            <p:nvPr/>
          </p:nvCxnSpPr>
          <p:spPr>
            <a:xfrm flipH="1">
              <a:off x="1326600" y="898560"/>
              <a:ext cx="8640" cy="2177280"/>
            </a:xfrm>
            <a:prstGeom prst="straightConnector1">
              <a:avLst/>
            </a:prstGeom>
            <a:ln w="18360">
              <a:solidFill>
                <a:srgbClr val="000000"/>
              </a:solidFill>
              <a:round/>
              <a:tailEnd type="triangle" w="med" len="med"/>
            </a:ln>
          </p:spPr>
        </p:cxnSp>
        <p:grpSp>
          <p:nvGrpSpPr>
            <p:cNvPr id="59" name="Group 25"/>
            <p:cNvGrpSpPr/>
            <p:nvPr/>
          </p:nvGrpSpPr>
          <p:grpSpPr>
            <a:xfrm>
              <a:off x="3401280" y="1183680"/>
              <a:ext cx="878760" cy="223560"/>
              <a:chOff x="3401280" y="1183680"/>
              <a:chExt cx="878760" cy="223560"/>
            </a:xfrm>
          </p:grpSpPr>
          <p:sp>
            <p:nvSpPr>
              <p:cNvPr id="60" name="Rectangle: Rounded Corners 30"/>
              <p:cNvSpPr/>
              <p:nvPr/>
            </p:nvSpPr>
            <p:spPr>
              <a:xfrm>
                <a:off x="3401280" y="1183680"/>
                <a:ext cx="878760" cy="223560"/>
              </a:xfrm>
              <a:prstGeom prst="roundRect">
                <a:avLst>
                  <a:gd name="adj" fmla="val 16667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1000" b="1" strike="noStrike" spc="-1" dirty="0">
                    <a:solidFill>
                      <a:schemeClr val="lt1"/>
                    </a:solidFill>
                    <a:latin typeface="Arial"/>
                    <a:ea typeface="ADLaM Display"/>
                  </a:rPr>
                  <a:t>  2 626</a:t>
                </a:r>
                <a:endParaRPr lang="en-US" sz="1000" b="0" strike="noStrike" spc="-1" dirty="0">
                  <a:solidFill>
                    <a:srgbClr val="FFFFFF"/>
                  </a:solidFill>
                  <a:latin typeface="Arial"/>
                </a:endParaRPr>
              </a:p>
            </p:txBody>
          </p:sp>
          <p:pic>
            <p:nvPicPr>
              <p:cNvPr id="61" name="Picture 31" descr="A black background with a black square&#10;&#10;Description automatically generated with medium confidence"/>
              <p:cNvPicPr/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 trans="0"/>
                        </a14:imgEffect>
                      </a14:imgLayer>
                    </a14:imgProps>
                  </a:ext>
                </a:extLst>
              </a:blip>
              <a:stretch/>
            </p:blipFill>
            <p:spPr>
              <a:xfrm>
                <a:off x="3436560" y="1216080"/>
                <a:ext cx="163440" cy="1472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62" name="Group 26"/>
            <p:cNvGrpSpPr/>
            <p:nvPr/>
          </p:nvGrpSpPr>
          <p:grpSpPr>
            <a:xfrm>
              <a:off x="2723760" y="580680"/>
              <a:ext cx="878760" cy="223560"/>
              <a:chOff x="2723760" y="580680"/>
              <a:chExt cx="878760" cy="223560"/>
            </a:xfrm>
          </p:grpSpPr>
          <p:sp>
            <p:nvSpPr>
              <p:cNvPr id="63" name="Rectangle: Rounded Corners 28"/>
              <p:cNvSpPr/>
              <p:nvPr/>
            </p:nvSpPr>
            <p:spPr>
              <a:xfrm>
                <a:off x="2723760" y="580680"/>
                <a:ext cx="878760" cy="223560"/>
              </a:xfrm>
              <a:prstGeom prst="roundRect">
                <a:avLst>
                  <a:gd name="adj" fmla="val 16667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1000" b="1" strike="noStrike" spc="-1" dirty="0">
                    <a:solidFill>
                      <a:schemeClr val="lt1"/>
                    </a:solidFill>
                    <a:latin typeface="Arial"/>
                    <a:ea typeface="ADLaM Display"/>
                  </a:rPr>
                  <a:t>  2 844</a:t>
                </a:r>
                <a:endParaRPr lang="en-US" sz="1000" b="0" strike="noStrike" spc="-1" dirty="0">
                  <a:solidFill>
                    <a:srgbClr val="FFFFFF"/>
                  </a:solidFill>
                  <a:latin typeface="Arial"/>
                </a:endParaRPr>
              </a:p>
            </p:txBody>
          </p:sp>
          <p:pic>
            <p:nvPicPr>
              <p:cNvPr id="64" name="Picture 29" descr="A black background with a black square&#10;&#10;Description automatically generated with medium confidence"/>
              <p:cNvPicPr/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 trans="0"/>
                        </a14:imgEffect>
                      </a14:imgLayer>
                    </a14:imgProps>
                  </a:ext>
                </a:extLst>
              </a:blip>
              <a:stretch/>
            </p:blipFill>
            <p:spPr>
              <a:xfrm>
                <a:off x="2756160" y="609120"/>
                <a:ext cx="163440" cy="1472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65" name="Group 64"/>
            <p:cNvGrpSpPr/>
            <p:nvPr/>
          </p:nvGrpSpPr>
          <p:grpSpPr>
            <a:xfrm>
              <a:off x="831780" y="8206080"/>
              <a:ext cx="4557240" cy="621000"/>
              <a:chOff x="914400" y="7416000"/>
              <a:chExt cx="4557240" cy="621000"/>
            </a:xfrm>
          </p:grpSpPr>
          <p:grpSp>
            <p:nvGrpSpPr>
              <p:cNvPr id="66" name="Group 32"/>
              <p:cNvGrpSpPr/>
              <p:nvPr/>
            </p:nvGrpSpPr>
            <p:grpSpPr>
              <a:xfrm>
                <a:off x="914400" y="7416000"/>
                <a:ext cx="4557240" cy="621000"/>
                <a:chOff x="914400" y="7416000"/>
                <a:chExt cx="4557240" cy="621000"/>
              </a:xfrm>
            </p:grpSpPr>
            <p:sp>
              <p:nvSpPr>
                <p:cNvPr id="67" name="Rectangle: Rounded Corners 34"/>
                <p:cNvSpPr/>
                <p:nvPr/>
              </p:nvSpPr>
              <p:spPr>
                <a:xfrm>
                  <a:off x="914400" y="7416000"/>
                  <a:ext cx="4557240" cy="621000"/>
                </a:xfrm>
                <a:prstGeom prst="roundRect">
                  <a:avLst>
                    <a:gd name="adj" fmla="val 16667"/>
                  </a:avLst>
                </a:prstGeom>
                <a:noFill/>
                <a:ln w="158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457200">
                    <a:lnSpc>
                      <a:spcPct val="100000"/>
                    </a:lnSpc>
                  </a:pPr>
                  <a:endParaRPr lang="en-US" sz="1000" b="1" strike="noStrike" spc="-1">
                    <a:solidFill>
                      <a:schemeClr val="lt1"/>
                    </a:solidFill>
                    <a:latin typeface="Arial"/>
                  </a:endParaRPr>
                </a:p>
              </p:txBody>
            </p:sp>
            <p:sp>
              <p:nvSpPr>
                <p:cNvPr id="68" name="TextBox 35"/>
                <p:cNvSpPr/>
                <p:nvPr/>
              </p:nvSpPr>
              <p:spPr>
                <a:xfrm>
                  <a:off x="2311200" y="7740720"/>
                  <a:ext cx="176328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ctr" defTabSz="457200">
                    <a:lnSpc>
                      <a:spcPct val="100000"/>
                    </a:lnSpc>
                  </a:pPr>
                  <a:r>
                    <a:rPr lang="en-US" sz="1000" b="0" strike="noStrike" spc="-1">
                      <a:solidFill>
                        <a:schemeClr val="dk1"/>
                      </a:solidFill>
                      <a:latin typeface="Arial"/>
                      <a:ea typeface="ADLaM Display"/>
                    </a:rPr>
                    <a:t> Articles included</a:t>
                  </a:r>
                  <a:endParaRPr lang="en-US" sz="1000" b="0" strike="noStrike" spc="-1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  <p:sp>
            <p:nvSpPr>
              <p:cNvPr id="69" name="Rectangle: Rounded Corners 33"/>
              <p:cNvSpPr/>
              <p:nvPr/>
            </p:nvSpPr>
            <p:spPr>
              <a:xfrm>
                <a:off x="2753640" y="7516440"/>
                <a:ext cx="878760" cy="223560"/>
              </a:xfrm>
              <a:prstGeom prst="roundRect">
                <a:avLst>
                  <a:gd name="adj" fmla="val 16667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1000" b="1" strike="noStrike" spc="-1" dirty="0">
                    <a:solidFill>
                      <a:schemeClr val="lt1"/>
                    </a:solidFill>
                    <a:latin typeface="Arial"/>
                    <a:ea typeface="ADLaM Display"/>
                  </a:rPr>
                  <a:t>  29</a:t>
                </a:r>
                <a:endParaRPr lang="en-US" sz="1000" b="0" strike="noStrike" spc="-1" dirty="0">
                  <a:solidFill>
                    <a:srgbClr val="FFFFFF"/>
                  </a:solidFill>
                  <a:latin typeface="Arial"/>
                </a:endParaRPr>
              </a:p>
            </p:txBody>
          </p:sp>
          <p:pic>
            <p:nvPicPr>
              <p:cNvPr id="70" name="Picture 27" descr="A black background with a black square&#10;&#10;Description automatically generated with medium confidence"/>
              <p:cNvPicPr/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 trans="0"/>
                        </a14:imgEffect>
                      </a14:imgLayer>
                    </a14:imgProps>
                  </a:ext>
                </a:extLst>
              </a:blip>
              <a:stretch/>
            </p:blipFill>
            <p:spPr>
              <a:xfrm>
                <a:off x="2788560" y="7539120"/>
                <a:ext cx="163440" cy="1472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1" name="Rectangle: Rounded Corners 1"/>
            <p:cNvSpPr/>
            <p:nvPr/>
          </p:nvSpPr>
          <p:spPr>
            <a:xfrm>
              <a:off x="457200" y="3067920"/>
              <a:ext cx="2742840" cy="1840680"/>
            </a:xfrm>
            <a:prstGeom prst="roundRect">
              <a:avLst>
                <a:gd name="adj" fmla="val 16667"/>
              </a:avLst>
            </a:prstGeom>
            <a:noFill/>
            <a:ln w="158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000" b="1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72" name="TextBox 1"/>
            <p:cNvSpPr/>
            <p:nvPr/>
          </p:nvSpPr>
          <p:spPr>
            <a:xfrm>
              <a:off x="843840" y="3402360"/>
              <a:ext cx="201960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1000" b="1" strike="noStrike" spc="-1">
                  <a:solidFill>
                    <a:schemeClr val="dk1"/>
                  </a:solidFill>
                  <a:latin typeface="Arial"/>
                  <a:ea typeface="ADLaM Display"/>
                </a:rPr>
                <a:t>Nationwide studies excluded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73" name="Group 2"/>
            <p:cNvGrpSpPr/>
            <p:nvPr/>
          </p:nvGrpSpPr>
          <p:grpSpPr>
            <a:xfrm>
              <a:off x="1454040" y="3170520"/>
              <a:ext cx="749160" cy="223560"/>
              <a:chOff x="1454040" y="3170520"/>
              <a:chExt cx="749160" cy="223560"/>
            </a:xfrm>
          </p:grpSpPr>
          <p:sp>
            <p:nvSpPr>
              <p:cNvPr id="74" name="Rectangle: Rounded Corners 2"/>
              <p:cNvSpPr/>
              <p:nvPr/>
            </p:nvSpPr>
            <p:spPr>
              <a:xfrm>
                <a:off x="1454040" y="3170520"/>
                <a:ext cx="749160" cy="223560"/>
              </a:xfrm>
              <a:prstGeom prst="roundRect">
                <a:avLst>
                  <a:gd name="adj" fmla="val 16667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1000" b="1" strike="noStrike" spc="-1" dirty="0">
                    <a:solidFill>
                      <a:schemeClr val="lt1"/>
                    </a:solidFill>
                    <a:latin typeface="Arial"/>
                    <a:ea typeface="ADLaM Display"/>
                  </a:rPr>
                  <a:t>  </a:t>
                </a:r>
                <a:r>
                  <a:rPr lang="en-US" sz="1000" b="1" spc="-1" dirty="0">
                    <a:solidFill>
                      <a:schemeClr val="lt1"/>
                    </a:solidFill>
                    <a:latin typeface="Arial"/>
                    <a:ea typeface="ADLaM Display"/>
                  </a:rPr>
                  <a:t>96</a:t>
                </a:r>
                <a:endParaRPr lang="en-US" sz="1000" b="0" strike="noStrike" spc="-1" dirty="0">
                  <a:solidFill>
                    <a:srgbClr val="FFFFFF"/>
                  </a:solidFill>
                  <a:latin typeface="Arial"/>
                </a:endParaRPr>
              </a:p>
            </p:txBody>
          </p:sp>
          <p:pic>
            <p:nvPicPr>
              <p:cNvPr id="75" name="Picture 1" descr="A black background with a black square&#10;&#10;Description automatically generated with medium confidence"/>
              <p:cNvPicPr/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 trans="0"/>
                        </a14:imgEffect>
                      </a14:imgLayer>
                    </a14:imgProps>
                  </a:ext>
                </a:extLst>
              </a:blip>
              <a:stretch/>
            </p:blipFill>
            <p:spPr>
              <a:xfrm>
                <a:off x="1483920" y="3213000"/>
                <a:ext cx="139320" cy="1472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6" name="Rectangle 75"/>
            <p:cNvSpPr/>
            <p:nvPr/>
          </p:nvSpPr>
          <p:spPr>
            <a:xfrm>
              <a:off x="577800" y="3582000"/>
              <a:ext cx="2742840" cy="151705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spc="-1" dirty="0">
                  <a:solidFill>
                    <a:srgbClr val="000000"/>
                  </a:solidFill>
                  <a:latin typeface="Arial"/>
                </a:rPr>
                <a:t>41</a:t>
              </a: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</a:rPr>
                <a:t> Missing asymptomatic cases among </a:t>
              </a:r>
              <a:r>
                <a:rPr lang="en-US" sz="1000" b="0" strike="noStrike" spc="-1" dirty="0" err="1">
                  <a:solidFill>
                    <a:srgbClr val="000000"/>
                  </a:solidFill>
                  <a:latin typeface="Arial"/>
                </a:rPr>
                <a:t>seropositives</a:t>
              </a: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</a:rPr>
                <a:t> or </a:t>
              </a:r>
              <a:r>
                <a:rPr lang="en-US" sz="1000" b="0" strike="noStrike" spc="-1" dirty="0" err="1">
                  <a:solidFill>
                    <a:srgbClr val="000000"/>
                  </a:solidFill>
                  <a:latin typeface="Arial"/>
                </a:rPr>
                <a:t>seronegatives</a:t>
              </a:r>
              <a:endParaRPr lang="en-US" sz="1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000" spc="-1" dirty="0">
                  <a:solidFill>
                    <a:srgbClr val="000000"/>
                  </a:solidFill>
                  <a:latin typeface="Arial"/>
                </a:rPr>
                <a:t>29</a:t>
              </a: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</a:rPr>
                <a:t> Not representative of the national population</a:t>
              </a:r>
            </a:p>
            <a:p>
              <a:pPr>
                <a:lnSpc>
                  <a:spcPct val="100000"/>
                </a:lnSpc>
              </a:pPr>
              <a:r>
                <a:rPr lang="en-US" sz="1000" spc="-1" dirty="0">
                  <a:solidFill>
                    <a:srgbClr val="000000"/>
                  </a:solidFill>
                  <a:latin typeface="Arial"/>
                </a:rPr>
                <a:t>10</a:t>
              </a: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</a:rPr>
                <a:t> Better representative study present from the same country</a:t>
              </a:r>
            </a:p>
            <a:p>
              <a:pPr>
                <a:lnSpc>
                  <a:spcPct val="100000"/>
                </a:lnSpc>
              </a:pPr>
              <a:r>
                <a:rPr lang="en-US" sz="1000" spc="-1" dirty="0">
                  <a:solidFill>
                    <a:srgbClr val="000000"/>
                  </a:solidFill>
                  <a:latin typeface="Arial"/>
                </a:rPr>
                <a:t>16 Institutional report/News article/Non-English/ Conference article/Preprint</a:t>
              </a:r>
              <a:endParaRPr lang="en-US" sz="1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" name="Rectangle: Rounded Corners 3"/>
            <p:cNvSpPr/>
            <p:nvPr/>
          </p:nvSpPr>
          <p:spPr>
            <a:xfrm>
              <a:off x="3549240" y="3063960"/>
              <a:ext cx="2742840" cy="2265820"/>
            </a:xfrm>
            <a:prstGeom prst="roundRect">
              <a:avLst>
                <a:gd name="adj" fmla="val 16667"/>
              </a:avLst>
            </a:prstGeom>
            <a:noFill/>
            <a:ln w="158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000" b="1" strike="noStrike" spc="-1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78" name="TextBox 2"/>
            <p:cNvSpPr/>
            <p:nvPr/>
          </p:nvSpPr>
          <p:spPr>
            <a:xfrm>
              <a:off x="4007880" y="3427560"/>
              <a:ext cx="18993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1000" b="1" strike="noStrike" spc="-1">
                  <a:solidFill>
                    <a:schemeClr val="dk1"/>
                  </a:solidFill>
                  <a:latin typeface="Arial"/>
                  <a:ea typeface="ADLaM Display"/>
                </a:rPr>
                <a:t>Regional studies excluded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79" name="Group 4"/>
            <p:cNvGrpSpPr/>
            <p:nvPr/>
          </p:nvGrpSpPr>
          <p:grpSpPr>
            <a:xfrm>
              <a:off x="4546080" y="3187440"/>
              <a:ext cx="749160" cy="268200"/>
              <a:chOff x="4546080" y="3187440"/>
              <a:chExt cx="749160" cy="268200"/>
            </a:xfrm>
          </p:grpSpPr>
          <p:sp>
            <p:nvSpPr>
              <p:cNvPr id="80" name="Rectangle: Rounded Corners 5"/>
              <p:cNvSpPr/>
              <p:nvPr/>
            </p:nvSpPr>
            <p:spPr>
              <a:xfrm>
                <a:off x="4546080" y="3187440"/>
                <a:ext cx="749160" cy="268200"/>
              </a:xfrm>
              <a:prstGeom prst="roundRect">
                <a:avLst>
                  <a:gd name="adj" fmla="val 16667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1000" b="1" strike="noStrike" spc="-1" dirty="0">
                    <a:solidFill>
                      <a:schemeClr val="lt1"/>
                    </a:solidFill>
                    <a:latin typeface="Arial"/>
                    <a:ea typeface="ADLaM Display"/>
                  </a:rPr>
                  <a:t>  </a:t>
                </a:r>
                <a:r>
                  <a:rPr lang="en-US" sz="1000" b="1" spc="-1" dirty="0">
                    <a:solidFill>
                      <a:schemeClr val="lt1"/>
                    </a:solidFill>
                    <a:latin typeface="Arial"/>
                    <a:ea typeface="ADLaM Display"/>
                  </a:rPr>
                  <a:t>131</a:t>
                </a:r>
                <a:endParaRPr lang="en-US" sz="1000" b="0" strike="noStrike" spc="-1" dirty="0">
                  <a:solidFill>
                    <a:srgbClr val="FFFFFF"/>
                  </a:solidFill>
                  <a:latin typeface="Arial"/>
                </a:endParaRPr>
              </a:p>
            </p:txBody>
          </p:sp>
          <p:pic>
            <p:nvPicPr>
              <p:cNvPr id="81" name="Picture 2" descr="A black background with a black square&#10;&#10;Description automatically generated with medium confidence"/>
              <p:cNvPicPr/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 trans="0"/>
                        </a14:imgEffect>
                      </a14:imgLayer>
                    </a14:imgProps>
                  </a:ext>
                </a:extLst>
              </a:blip>
              <a:stretch/>
            </p:blipFill>
            <p:spPr>
              <a:xfrm>
                <a:off x="4575960" y="3238200"/>
                <a:ext cx="139320" cy="1767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82" name="Rectangle 81"/>
            <p:cNvSpPr/>
            <p:nvPr/>
          </p:nvSpPr>
          <p:spPr>
            <a:xfrm>
              <a:off x="3597840" y="3609360"/>
              <a:ext cx="2802960" cy="144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spc="-1" dirty="0">
                  <a:solidFill>
                    <a:srgbClr val="000000"/>
                  </a:solidFill>
                  <a:latin typeface="Arial"/>
                </a:rPr>
                <a:t>81 </a:t>
              </a: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</a:rPr>
                <a:t>Studies from the countries with available nationwide representative study</a:t>
              </a:r>
            </a:p>
            <a:p>
              <a:pPr>
                <a:lnSpc>
                  <a:spcPct val="100000"/>
                </a:lnSpc>
              </a:pP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</a:rPr>
                <a:t>13 Missing asymptomatic cases among </a:t>
              </a:r>
              <a:r>
                <a:rPr lang="en-US" sz="1000" b="0" strike="noStrike" spc="-1" dirty="0" err="1">
                  <a:solidFill>
                    <a:srgbClr val="000000"/>
                  </a:solidFill>
                  <a:latin typeface="Arial"/>
                </a:rPr>
                <a:t>seropositives</a:t>
              </a: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</a:rPr>
                <a:t> or </a:t>
              </a:r>
              <a:r>
                <a:rPr lang="en-US" sz="1000" b="0" strike="noStrike" spc="-1" dirty="0" err="1">
                  <a:solidFill>
                    <a:srgbClr val="000000"/>
                  </a:solidFill>
                  <a:latin typeface="Arial"/>
                </a:rPr>
                <a:t>seronegatives</a:t>
              </a:r>
              <a:endParaRPr lang="en-US" sz="1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</a:rPr>
                <a:t>18 Not representative of the national population</a:t>
              </a:r>
            </a:p>
            <a:p>
              <a:r>
                <a:rPr lang="en-US" sz="1000" spc="-1" dirty="0">
                  <a:solidFill>
                    <a:srgbClr val="000000"/>
                  </a:solidFill>
                  <a:latin typeface="Arial"/>
                </a:rPr>
                <a:t>2  Better representative regional study present from the same country</a:t>
              </a:r>
              <a:endParaRPr lang="en-US" sz="1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000" spc="-1" dirty="0">
                  <a:solidFill>
                    <a:srgbClr val="000000"/>
                  </a:solidFill>
                  <a:latin typeface="Arial"/>
                </a:rPr>
                <a:t>17</a:t>
              </a:r>
              <a:r>
                <a:rPr lang="en-US" sz="1000" b="0" strike="noStrike" spc="-1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sz="1000" spc="-1" dirty="0">
                  <a:solidFill>
                    <a:srgbClr val="000000"/>
                  </a:solidFill>
                  <a:latin typeface="Arial"/>
                </a:rPr>
                <a:t>Institutional report/News article/Non-English/ Conference article/Preprint</a:t>
              </a:r>
              <a:endParaRPr lang="en-US" sz="1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83" name="Straight Arrow Connector 2"/>
            <p:cNvCxnSpPr/>
            <p:nvPr/>
          </p:nvCxnSpPr>
          <p:spPr>
            <a:xfrm>
              <a:off x="3217680" y="3880080"/>
              <a:ext cx="338400" cy="1080"/>
            </a:xfrm>
            <a:prstGeom prst="straightConnector1">
              <a:avLst/>
            </a:prstGeom>
            <a:ln w="15875">
              <a:solidFill>
                <a:srgbClr val="000000"/>
              </a:solidFill>
              <a:round/>
              <a:tailEnd type="triangle" w="med" len="med"/>
            </a:ln>
          </p:spPr>
        </p:cxnSp>
        <p:grpSp>
          <p:nvGrpSpPr>
            <p:cNvPr id="84" name="Group 83"/>
            <p:cNvGrpSpPr/>
            <p:nvPr/>
          </p:nvGrpSpPr>
          <p:grpSpPr>
            <a:xfrm>
              <a:off x="3581280" y="5678620"/>
              <a:ext cx="2817000" cy="2185560"/>
              <a:chOff x="3581280" y="5223960"/>
              <a:chExt cx="2817000" cy="2185560"/>
            </a:xfrm>
          </p:grpSpPr>
          <p:sp>
            <p:nvSpPr>
              <p:cNvPr id="85" name="Rectangle: Rounded Corners 3"/>
              <p:cNvSpPr/>
              <p:nvPr/>
            </p:nvSpPr>
            <p:spPr>
              <a:xfrm>
                <a:off x="3581280" y="5223960"/>
                <a:ext cx="2742840" cy="2185560"/>
              </a:xfrm>
              <a:prstGeom prst="roundRect">
                <a:avLst>
                  <a:gd name="adj" fmla="val 16667"/>
                </a:avLst>
              </a:prstGeom>
              <a:noFill/>
              <a:ln w="158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n-US" sz="1000" b="1" strike="noStrike" spc="-1">
                  <a:solidFill>
                    <a:schemeClr val="lt1"/>
                  </a:solidFill>
                  <a:latin typeface="Arial"/>
                </a:endParaRPr>
              </a:p>
            </p:txBody>
          </p:sp>
          <p:sp>
            <p:nvSpPr>
              <p:cNvPr id="86" name="TextBox 2"/>
              <p:cNvSpPr/>
              <p:nvPr/>
            </p:nvSpPr>
            <p:spPr>
              <a:xfrm>
                <a:off x="4039920" y="5588640"/>
                <a:ext cx="1899360" cy="24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457200">
                  <a:lnSpc>
                    <a:spcPct val="100000"/>
                  </a:lnSpc>
                </a:pPr>
                <a:r>
                  <a:rPr lang="en-US" sz="1000" b="1" strike="noStrike" spc="-1">
                    <a:solidFill>
                      <a:schemeClr val="dk1"/>
                    </a:solidFill>
                    <a:latin typeface="Arial"/>
                    <a:ea typeface="ADLaM Display"/>
                  </a:rPr>
                  <a:t>Local studies excluded</a:t>
                </a:r>
                <a:endParaRPr lang="en-US" sz="10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87" name="Group 4"/>
              <p:cNvGrpSpPr/>
              <p:nvPr/>
            </p:nvGrpSpPr>
            <p:grpSpPr>
              <a:xfrm>
                <a:off x="4578120" y="5347800"/>
                <a:ext cx="749160" cy="269280"/>
                <a:chOff x="4578120" y="5347800"/>
                <a:chExt cx="749160" cy="269280"/>
              </a:xfrm>
            </p:grpSpPr>
            <p:sp>
              <p:nvSpPr>
                <p:cNvPr id="88" name="Rectangle: Rounded Corners 5"/>
                <p:cNvSpPr/>
                <p:nvPr/>
              </p:nvSpPr>
              <p:spPr>
                <a:xfrm>
                  <a:off x="4578120" y="5347800"/>
                  <a:ext cx="749160" cy="26928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457200">
                    <a:lnSpc>
                      <a:spcPct val="100000"/>
                    </a:lnSpc>
                  </a:pPr>
                  <a:r>
                    <a:rPr lang="en-US" sz="1000" b="1" strike="noStrike" spc="-1" dirty="0">
                      <a:solidFill>
                        <a:schemeClr val="lt1"/>
                      </a:solidFill>
                      <a:latin typeface="Arial"/>
                      <a:ea typeface="ADLaM Display"/>
                    </a:rPr>
                    <a:t>  </a:t>
                  </a:r>
                  <a:r>
                    <a:rPr lang="en-US" sz="1000" b="1" spc="-1" dirty="0">
                      <a:solidFill>
                        <a:schemeClr val="lt1"/>
                      </a:solidFill>
                      <a:latin typeface="Arial"/>
                      <a:ea typeface="ADLaM Display"/>
                    </a:rPr>
                    <a:t>262</a:t>
                  </a:r>
                  <a:endParaRPr lang="en-US" sz="1000" b="0" strike="noStrike" spc="-1" dirty="0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pic>
              <p:nvPicPr>
                <p:cNvPr id="89" name="Picture 2" descr="A black background with a black square&#10;&#10;Description automatically generated with medium confidence"/>
                <p:cNvPicPr/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artisticPhotocopy trans="0"/>
                          </a14:imgEffect>
                        </a14:imgLayer>
                      </a14:imgProps>
                    </a:ext>
                  </a:extLst>
                </a:blip>
                <a:stretch/>
              </p:blipFill>
              <p:spPr>
                <a:xfrm>
                  <a:off x="4608000" y="5398560"/>
                  <a:ext cx="139320" cy="17748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  <p:sp>
            <p:nvSpPr>
              <p:cNvPr id="90" name="Rectangle 89"/>
              <p:cNvSpPr/>
              <p:nvPr/>
            </p:nvSpPr>
            <p:spPr>
              <a:xfrm>
                <a:off x="3597840" y="5770800"/>
                <a:ext cx="2800440" cy="1303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000" spc="-1" dirty="0">
                    <a:solidFill>
                      <a:srgbClr val="000000"/>
                    </a:solidFill>
                    <a:latin typeface="Arial"/>
                  </a:rPr>
                  <a:t>137</a:t>
                </a: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</a:rPr>
                  <a:t> Studies from the countries with available nation</a:t>
                </a:r>
                <a:r>
                  <a:rPr lang="en-US" sz="1000" spc="-1" dirty="0">
                    <a:solidFill>
                      <a:srgbClr val="000000"/>
                    </a:solidFill>
                    <a:latin typeface="Arial"/>
                  </a:rPr>
                  <a:t>wide</a:t>
                </a: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</a:rPr>
                  <a:t> representative study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</a:rPr>
                  <a:t>25 Missing asymptomatic cases among </a:t>
                </a:r>
                <a:r>
                  <a:rPr lang="en-US" sz="1000" b="0" strike="noStrike" spc="-1" dirty="0" err="1">
                    <a:solidFill>
                      <a:srgbClr val="000000"/>
                    </a:solidFill>
                    <a:latin typeface="Arial"/>
                  </a:rPr>
                  <a:t>seropositives</a:t>
                </a: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</a:rPr>
                  <a:t> or </a:t>
                </a:r>
                <a:r>
                  <a:rPr lang="en-US" sz="1000" b="0" strike="noStrike" spc="-1" dirty="0" err="1">
                    <a:solidFill>
                      <a:srgbClr val="000000"/>
                    </a:solidFill>
                    <a:latin typeface="Arial"/>
                  </a:rPr>
                  <a:t>seronegatives</a:t>
                </a:r>
                <a:endParaRPr lang="en-US" sz="1000" b="0" strike="noStrike" spc="-1" dirty="0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000" spc="-1" dirty="0">
                    <a:solidFill>
                      <a:srgbClr val="000000"/>
                    </a:solidFill>
                    <a:latin typeface="Arial"/>
                  </a:rPr>
                  <a:t>43</a:t>
                </a:r>
                <a:r>
                  <a:rPr lang="en-US" sz="1000" b="0" strike="noStrike" spc="-1" dirty="0">
                    <a:solidFill>
                      <a:srgbClr val="000000"/>
                    </a:solidFill>
                    <a:latin typeface="Arial"/>
                  </a:rPr>
                  <a:t>  Not representative of the national population</a:t>
                </a:r>
              </a:p>
              <a:p>
                <a:r>
                  <a:rPr lang="en-US" sz="1000" spc="-1" dirty="0">
                    <a:solidFill>
                      <a:srgbClr val="000000"/>
                    </a:solidFill>
                    <a:latin typeface="Arial"/>
                  </a:rPr>
                  <a:t>5  Better representative regional study present from the same country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000" spc="-1" dirty="0">
                    <a:solidFill>
                      <a:srgbClr val="000000"/>
                    </a:solidFill>
                    <a:latin typeface="Arial"/>
                  </a:rPr>
                  <a:t>52 Institutional report/News article/Non-English/ Conference article/Preprint</a:t>
                </a:r>
              </a:p>
            </p:txBody>
          </p:sp>
        </p:grpSp>
        <p:cxnSp>
          <p:nvCxnSpPr>
            <p:cNvPr id="91" name="Straight Arrow Connector 3"/>
            <p:cNvCxnSpPr>
              <a:cxnSpLocks/>
            </p:cNvCxnSpPr>
            <p:nvPr/>
          </p:nvCxnSpPr>
          <p:spPr>
            <a:xfrm flipH="1">
              <a:off x="5005800" y="5328860"/>
              <a:ext cx="2520" cy="338400"/>
            </a:xfrm>
            <a:prstGeom prst="straightConnector1">
              <a:avLst/>
            </a:prstGeom>
            <a:ln w="15875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92" name="Straight Arrow Connector 1"/>
            <p:cNvCxnSpPr/>
            <p:nvPr/>
          </p:nvCxnSpPr>
          <p:spPr>
            <a:xfrm flipH="1">
              <a:off x="4996800" y="7862380"/>
              <a:ext cx="2520" cy="338400"/>
            </a:xfrm>
            <a:prstGeom prst="straightConnector1">
              <a:avLst/>
            </a:prstGeom>
            <a:ln w="15875">
              <a:solidFill>
                <a:srgbClr val="000000"/>
              </a:solidFill>
              <a:round/>
              <a:tailEnd type="triangle" w="med" len="med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5696</TotalTime>
  <Words>207</Words>
  <Application>Microsoft Office PowerPoint</Application>
  <PresentationFormat>A4 Paper (210x297 mm)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Symbol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Akshay Tiwari</dc:creator>
  <dc:description/>
  <cp:lastModifiedBy>Akshay Tiwari</cp:lastModifiedBy>
  <cp:revision>7</cp:revision>
  <cp:lastPrinted>2025-04-05T11:48:47Z</cp:lastPrinted>
  <dcterms:created xsi:type="dcterms:W3CDTF">2025-02-09T12:47:15Z</dcterms:created>
  <dcterms:modified xsi:type="dcterms:W3CDTF">2025-12-24T13:11:45Z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